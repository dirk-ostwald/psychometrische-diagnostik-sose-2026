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</p:sldIdLst>
  <p:sldSz cx="7920038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13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4003" y="883861"/>
            <a:ext cx="6732032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005" y="2836605"/>
            <a:ext cx="5940029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D19B9-C162-478F-AE02-6674601534B8}" type="datetimeFigureOut">
              <a:rPr lang="de-DE" smtClean="0"/>
              <a:t>18.12.2022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C0D-3650-444C-B26B-752199137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2006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D19B9-C162-478F-AE02-6674601534B8}" type="datetimeFigureOut">
              <a:rPr lang="de-DE" smtClean="0"/>
              <a:t>18.12.2022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C0D-3650-444C-B26B-752199137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6151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378" y="1346420"/>
            <a:ext cx="6831033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378" y="3614203"/>
            <a:ext cx="6831033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D19B9-C162-478F-AE02-6674601534B8}" type="datetimeFigureOut">
              <a:rPr lang="de-DE" smtClean="0"/>
              <a:t>18.12.2022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C0D-3650-444C-B26B-752199137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7124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4503" y="1437680"/>
            <a:ext cx="3366016" cy="34266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09519" y="1437680"/>
            <a:ext cx="3366016" cy="34266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D19B9-C162-478F-AE02-6674601534B8}" type="datetimeFigureOut">
              <a:rPr lang="de-DE" smtClean="0"/>
              <a:t>18.12.2022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C0D-3650-444C-B26B-752199137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3057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287537"/>
            <a:ext cx="6831033" cy="104388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5535" y="1323916"/>
            <a:ext cx="3350547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535" y="1972747"/>
            <a:ext cx="3350547" cy="290161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09520" y="1323916"/>
            <a:ext cx="3367048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09520" y="1972747"/>
            <a:ext cx="3367048" cy="290161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D19B9-C162-478F-AE02-6674601534B8}" type="datetimeFigureOut">
              <a:rPr lang="de-DE" smtClean="0"/>
              <a:t>18.12.2022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C0D-3650-444C-B26B-752199137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7995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D19B9-C162-478F-AE02-6674601534B8}" type="datetimeFigureOut">
              <a:rPr lang="de-DE" smtClean="0"/>
              <a:t>18.12.2022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C0D-3650-444C-B26B-752199137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7147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D19B9-C162-478F-AE02-6674601534B8}" type="datetimeFigureOut">
              <a:rPr lang="de-DE" smtClean="0"/>
              <a:t>18.12.2022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C0D-3650-444C-B26B-752199137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3701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360045"/>
            <a:ext cx="2554418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7048" y="777598"/>
            <a:ext cx="4009519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4" y="1620202"/>
            <a:ext cx="2554418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D19B9-C162-478F-AE02-6674601534B8}" type="datetimeFigureOut">
              <a:rPr lang="de-DE" smtClean="0"/>
              <a:t>18.12.2022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C0D-3650-444C-B26B-752199137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8060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360045"/>
            <a:ext cx="2554418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67048" y="777598"/>
            <a:ext cx="4009519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4" y="1620202"/>
            <a:ext cx="2554418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D19B9-C162-478F-AE02-6674601534B8}" type="datetimeFigureOut">
              <a:rPr lang="de-DE" smtClean="0"/>
              <a:t>18.12.2022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C0D-3650-444C-B26B-752199137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7752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D19B9-C162-478F-AE02-6674601534B8}" type="datetimeFigureOut">
              <a:rPr lang="de-DE" smtClean="0"/>
              <a:t>18.12.2022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C0D-3650-444C-B26B-752199137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5124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7778" y="287536"/>
            <a:ext cx="1707758" cy="4576822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4503" y="287536"/>
            <a:ext cx="5024274" cy="4576822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D19B9-C162-478F-AE02-6674601534B8}" type="datetimeFigureOut">
              <a:rPr lang="de-DE" smtClean="0"/>
              <a:t>18.12.2022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C0D-3650-444C-B26B-752199137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3500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4503" y="287537"/>
            <a:ext cx="6831033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503" y="1437680"/>
            <a:ext cx="6831033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4502" y="5005627"/>
            <a:ext cx="1782009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BD19B9-C162-478F-AE02-6674601534B8}" type="datetimeFigureOut">
              <a:rPr lang="de-DE" smtClean="0"/>
              <a:t>18.12.2022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23513" y="5005627"/>
            <a:ext cx="2673013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93527" y="5005627"/>
            <a:ext cx="1782009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74C0D-3650-444C-B26B-752199137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1132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7DD7A9FF-68DE-FFE3-0A4B-598DAF0D34CE}"/>
              </a:ext>
            </a:extLst>
          </p:cNvPr>
          <p:cNvGrpSpPr/>
          <p:nvPr/>
        </p:nvGrpSpPr>
        <p:grpSpPr>
          <a:xfrm>
            <a:off x="600973" y="-604415"/>
            <a:ext cx="6770807" cy="6577522"/>
            <a:chOff x="1212949" y="124248"/>
            <a:chExt cx="6770807" cy="657752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C9488EB8-6295-7D9A-A09E-643680949A67}"/>
                </a:ext>
              </a:extLst>
            </p:cNvPr>
            <p:cNvCxnSpPr>
              <a:cxnSpLocks/>
            </p:cNvCxnSpPr>
            <p:nvPr/>
          </p:nvCxnSpPr>
          <p:spPr>
            <a:xfrm>
              <a:off x="4614500" y="901795"/>
              <a:ext cx="0" cy="5107012"/>
            </a:xfrm>
            <a:prstGeom prst="line">
              <a:avLst/>
            </a:prstGeom>
            <a:ln w="7620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F4BB1BA4-97D4-E815-EAA5-F83ABD62FF65}"/>
                </a:ext>
              </a:extLst>
            </p:cNvPr>
            <p:cNvGrpSpPr/>
            <p:nvPr/>
          </p:nvGrpSpPr>
          <p:grpSpPr>
            <a:xfrm>
              <a:off x="1212949" y="124248"/>
              <a:ext cx="6770807" cy="6577522"/>
              <a:chOff x="1023167" y="72492"/>
              <a:chExt cx="6770807" cy="6577522"/>
            </a:xfrm>
          </p:grpSpPr>
          <p:sp>
            <p:nvSpPr>
              <p:cNvPr id="5" name="Ellipse 4">
                <a:extLst>
                  <a:ext uri="{FF2B5EF4-FFF2-40B4-BE49-F238E27FC236}">
                    <a16:creationId xmlns:a16="http://schemas.microsoft.com/office/drawing/2014/main" id="{832A61CD-3F4C-F639-247B-F7A0A822DFC6}"/>
                  </a:ext>
                </a:extLst>
              </p:cNvPr>
              <p:cNvSpPr/>
              <p:nvPr/>
            </p:nvSpPr>
            <p:spPr>
              <a:xfrm>
                <a:off x="1237888" y="2594394"/>
                <a:ext cx="1669212" cy="1669212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" name="Ellipse 5">
                <a:extLst>
                  <a:ext uri="{FF2B5EF4-FFF2-40B4-BE49-F238E27FC236}">
                    <a16:creationId xmlns:a16="http://schemas.microsoft.com/office/drawing/2014/main" id="{B69FAA3E-BEA7-3466-C436-7489630E4676}"/>
                  </a:ext>
                </a:extLst>
              </p:cNvPr>
              <p:cNvSpPr/>
              <p:nvPr/>
            </p:nvSpPr>
            <p:spPr>
              <a:xfrm>
                <a:off x="6124762" y="2594394"/>
                <a:ext cx="1669212" cy="1669212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" name="Bogen 6">
                <a:extLst>
                  <a:ext uri="{FF2B5EF4-FFF2-40B4-BE49-F238E27FC236}">
                    <a16:creationId xmlns:a16="http://schemas.microsoft.com/office/drawing/2014/main" id="{83A73BEE-8C2D-F39A-26F5-30A1555B2686}"/>
                  </a:ext>
                </a:extLst>
              </p:cNvPr>
              <p:cNvSpPr/>
              <p:nvPr/>
            </p:nvSpPr>
            <p:spPr>
              <a:xfrm rot="18900000">
                <a:off x="1760711" y="2197571"/>
                <a:ext cx="4905782" cy="4452443"/>
              </a:xfrm>
              <a:prstGeom prst="arc">
                <a:avLst>
                  <a:gd name="adj1" fmla="val 16825071"/>
                  <a:gd name="adj2" fmla="val 0"/>
                </a:avLst>
              </a:prstGeom>
              <a:ln w="57150">
                <a:solidFill>
                  <a:schemeClr val="bg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>
                  <a:ln w="285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8" name="Bogen 7">
                <a:extLst>
                  <a:ext uri="{FF2B5EF4-FFF2-40B4-BE49-F238E27FC236}">
                    <a16:creationId xmlns:a16="http://schemas.microsoft.com/office/drawing/2014/main" id="{6E994F3F-2D24-0B97-2689-2C11E972B739}"/>
                  </a:ext>
                </a:extLst>
              </p:cNvPr>
              <p:cNvSpPr/>
              <p:nvPr/>
            </p:nvSpPr>
            <p:spPr>
              <a:xfrm rot="7918979">
                <a:off x="2157611" y="299161"/>
                <a:ext cx="4905782" cy="4452443"/>
              </a:xfrm>
              <a:prstGeom prst="arc">
                <a:avLst>
                  <a:gd name="adj1" fmla="val 16825071"/>
                  <a:gd name="adj2" fmla="val 0"/>
                </a:avLst>
              </a:prstGeom>
              <a:ln w="57150">
                <a:solidFill>
                  <a:schemeClr val="bg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>
                  <a:ln w="285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7BAE655A-B3A6-54C7-8BF0-F198A43C30AE}"/>
                  </a:ext>
                </a:extLst>
              </p:cNvPr>
              <p:cNvSpPr txBox="1"/>
              <p:nvPr/>
            </p:nvSpPr>
            <p:spPr>
              <a:xfrm>
                <a:off x="1472009" y="3075057"/>
                <a:ext cx="120097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20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Latente </a:t>
                </a:r>
              </a:p>
              <a:p>
                <a:pPr algn="ctr"/>
                <a:r>
                  <a:rPr lang="de-DE" sz="20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Variablen</a:t>
                </a:r>
              </a:p>
            </p:txBody>
          </p:sp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A12D1D2F-079E-A4BD-723E-94C701F81430}"/>
                  </a:ext>
                </a:extLst>
              </p:cNvPr>
              <p:cNvSpPr txBox="1"/>
              <p:nvPr/>
            </p:nvSpPr>
            <p:spPr>
              <a:xfrm>
                <a:off x="6185099" y="2940167"/>
                <a:ext cx="1606530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Observierbare </a:t>
                </a:r>
              </a:p>
              <a:p>
                <a:pPr algn="ctr"/>
                <a:r>
                  <a:rPr lang="de-DE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Variablen</a:t>
                </a:r>
              </a:p>
              <a:p>
                <a:pPr algn="ctr"/>
                <a:r>
                  <a:rPr lang="de-DE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=</a:t>
                </a:r>
              </a:p>
              <a:p>
                <a:pPr algn="ctr"/>
                <a:r>
                  <a:rPr lang="de-DE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Daten</a:t>
                </a:r>
              </a:p>
            </p:txBody>
          </p:sp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80E02419-70F3-C963-6406-1751E64AB14F}"/>
                  </a:ext>
                </a:extLst>
              </p:cNvPr>
              <p:cNvSpPr txBox="1"/>
              <p:nvPr/>
            </p:nvSpPr>
            <p:spPr>
              <a:xfrm>
                <a:off x="3172847" y="1509037"/>
                <a:ext cx="2595582" cy="4462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3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Operationalisierung</a:t>
                </a:r>
              </a:p>
            </p:txBody>
          </p:sp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044195EF-C6A6-2FD4-BD7E-9935FC8B3BD9}"/>
                  </a:ext>
                </a:extLst>
              </p:cNvPr>
              <p:cNvSpPr txBox="1"/>
              <p:nvPr/>
            </p:nvSpPr>
            <p:spPr>
              <a:xfrm>
                <a:off x="3837858" y="5094700"/>
                <a:ext cx="1173719" cy="4462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3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Inferenz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feld 12">
                    <a:extLst>
                      <a:ext uri="{FF2B5EF4-FFF2-40B4-BE49-F238E27FC236}">
                        <a16:creationId xmlns:a16="http://schemas.microsoft.com/office/drawing/2014/main" id="{58343EC7-8F5E-4B6A-319A-8A36CC8026A2}"/>
                      </a:ext>
                    </a:extLst>
                  </p:cNvPr>
                  <p:cNvSpPr txBox="1"/>
                  <p:nvPr/>
                </p:nvSpPr>
                <p:spPr>
                  <a:xfrm>
                    <a:off x="1023167" y="1115160"/>
                    <a:ext cx="2098651" cy="466281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>
                      <a:lnSpc>
                        <a:spcPct val="150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de-DE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⋮</m:t>
                          </m:r>
                        </m:oMath>
                      </m:oMathPara>
                    </a14:m>
                    <a:endParaRPr lang="de-DE" dirty="0">
                      <a:solidFill>
                        <a:schemeClr val="bg1">
                          <a:lumMod val="65000"/>
                        </a:schemeClr>
                      </a:solidFill>
                      <a:latin typeface="CMU Bright" panose="02000603000000000000" pitchFamily="2" charset="0"/>
                      <a:ea typeface="CMU Bright" panose="02000603000000000000" pitchFamily="2" charset="0"/>
                      <a:cs typeface="CMU Bright" panose="02000603000000000000" pitchFamily="2" charset="0"/>
                    </a:endParaRPr>
                  </a:p>
                  <a:p>
                    <a:pPr algn="ctr">
                      <a:lnSpc>
                        <a:spcPct val="150000"/>
                      </a:lnSpc>
                    </a:pPr>
                    <a:r>
                      <a:rPr lang="de-DE" dirty="0">
                        <a:solidFill>
                          <a:schemeClr val="bg1">
                            <a:lumMod val="65000"/>
                          </a:schemeClr>
                        </a:solidFill>
                        <a:latin typeface="CMU Bright" panose="02000603000000000000" pitchFamily="2" charset="0"/>
                        <a:ea typeface="CMU Bright" panose="02000603000000000000" pitchFamily="2" charset="0"/>
                        <a:cs typeface="CMU Bright" panose="02000603000000000000" pitchFamily="2" charset="0"/>
                      </a:rPr>
                      <a:t>Konstrukt</a:t>
                    </a:r>
                  </a:p>
                  <a:p>
                    <a:pPr algn="ctr">
                      <a:lnSpc>
                        <a:spcPct val="150000"/>
                      </a:lnSpc>
                    </a:pPr>
                    <a:r>
                      <a:rPr lang="de-DE" dirty="0">
                        <a:solidFill>
                          <a:schemeClr val="bg1">
                            <a:lumMod val="65000"/>
                          </a:schemeClr>
                        </a:solidFill>
                        <a:latin typeface="CMU Bright" panose="02000603000000000000" pitchFamily="2" charset="0"/>
                        <a:ea typeface="CMU Bright" panose="02000603000000000000" pitchFamily="2" charset="0"/>
                        <a:cs typeface="CMU Bright" panose="02000603000000000000" pitchFamily="2" charset="0"/>
                      </a:rPr>
                      <a:t>Kognitiver Prozess</a:t>
                    </a:r>
                  </a:p>
                  <a:p>
                    <a:pPr algn="ctr">
                      <a:lnSpc>
                        <a:spcPct val="150000"/>
                      </a:lnSpc>
                    </a:pPr>
                    <a:endParaRPr lang="de-DE" dirty="0">
                      <a:latin typeface="CMU Bright" panose="02000603000000000000" pitchFamily="2" charset="0"/>
                      <a:ea typeface="CMU Bright" panose="02000603000000000000" pitchFamily="2" charset="0"/>
                      <a:cs typeface="CMU Bright" panose="02000603000000000000" pitchFamily="2" charset="0"/>
                    </a:endParaRPr>
                  </a:p>
                  <a:p>
                    <a:pPr algn="ctr">
                      <a:lnSpc>
                        <a:spcPct val="150000"/>
                      </a:lnSpc>
                    </a:pPr>
                    <a:endParaRPr lang="de-DE" dirty="0">
                      <a:latin typeface="CMU Bright" panose="02000603000000000000" pitchFamily="2" charset="0"/>
                      <a:ea typeface="CMU Bright" panose="02000603000000000000" pitchFamily="2" charset="0"/>
                      <a:cs typeface="CMU Bright" panose="02000603000000000000" pitchFamily="2" charset="0"/>
                    </a:endParaRPr>
                  </a:p>
                  <a:p>
                    <a:pPr algn="ctr">
                      <a:lnSpc>
                        <a:spcPct val="150000"/>
                      </a:lnSpc>
                    </a:pPr>
                    <a:endParaRPr lang="de-DE" dirty="0">
                      <a:latin typeface="CMU Bright" panose="02000603000000000000" pitchFamily="2" charset="0"/>
                      <a:ea typeface="CMU Bright" panose="02000603000000000000" pitchFamily="2" charset="0"/>
                      <a:cs typeface="CMU Bright" panose="02000603000000000000" pitchFamily="2" charset="0"/>
                    </a:endParaRPr>
                  </a:p>
                  <a:p>
                    <a:pPr algn="ctr">
                      <a:lnSpc>
                        <a:spcPct val="150000"/>
                      </a:lnSpc>
                    </a:pPr>
                    <a:endParaRPr lang="de-DE" dirty="0">
                      <a:latin typeface="CMU Bright" panose="02000603000000000000" pitchFamily="2" charset="0"/>
                      <a:ea typeface="CMU Bright" panose="02000603000000000000" pitchFamily="2" charset="0"/>
                      <a:cs typeface="CMU Bright" panose="02000603000000000000" pitchFamily="2" charset="0"/>
                    </a:endParaRPr>
                  </a:p>
                  <a:p>
                    <a:pPr algn="ctr">
                      <a:lnSpc>
                        <a:spcPct val="150000"/>
                      </a:lnSpc>
                    </a:pPr>
                    <a:endParaRPr lang="de-DE" dirty="0">
                      <a:latin typeface="CMU Bright" panose="02000603000000000000" pitchFamily="2" charset="0"/>
                      <a:ea typeface="CMU Bright" panose="02000603000000000000" pitchFamily="2" charset="0"/>
                      <a:cs typeface="CMU Bright" panose="02000603000000000000" pitchFamily="2" charset="0"/>
                    </a:endParaRPr>
                  </a:p>
                  <a:p>
                    <a:pPr algn="ctr">
                      <a:lnSpc>
                        <a:spcPct val="150000"/>
                      </a:lnSpc>
                    </a:pPr>
                    <a:r>
                      <a:rPr lang="de-DE" dirty="0">
                        <a:solidFill>
                          <a:schemeClr val="bg1">
                            <a:lumMod val="65000"/>
                          </a:schemeClr>
                        </a:solidFill>
                        <a:latin typeface="CMU Bright" panose="02000603000000000000" pitchFamily="2" charset="0"/>
                        <a:ea typeface="CMU Bright" panose="02000603000000000000" pitchFamily="2" charset="0"/>
                        <a:cs typeface="CMU Bright" panose="02000603000000000000" pitchFamily="2" charset="0"/>
                      </a:rPr>
                      <a:t>Neuronale Aktivität</a:t>
                    </a:r>
                  </a:p>
                  <a:p>
                    <a:pPr algn="ctr">
                      <a:lnSpc>
                        <a:spcPct val="150000"/>
                      </a:lnSpc>
                    </a:pPr>
                    <a:r>
                      <a:rPr lang="de-DE" dirty="0">
                        <a:solidFill>
                          <a:schemeClr val="bg1">
                            <a:lumMod val="65000"/>
                          </a:schemeClr>
                        </a:solidFill>
                        <a:latin typeface="CMU Bright" panose="02000603000000000000" pitchFamily="2" charset="0"/>
                        <a:ea typeface="CMU Bright" panose="02000603000000000000" pitchFamily="2" charset="0"/>
                        <a:cs typeface="CMU Bright" panose="02000603000000000000" pitchFamily="2" charset="0"/>
                      </a:rPr>
                      <a:t>Faktor</a:t>
                    </a:r>
                  </a:p>
                  <a:p>
                    <a:pPr algn="ctr">
                      <a:lnSpc>
                        <a:spcPct val="150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de-DE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⋮</m:t>
                          </m:r>
                        </m:oMath>
                      </m:oMathPara>
                    </a14:m>
                    <a:endParaRPr lang="de-DE" dirty="0">
                      <a:latin typeface="CMU Bright" panose="02000603000000000000" pitchFamily="2" charset="0"/>
                      <a:ea typeface="CMU Bright" panose="02000603000000000000" pitchFamily="2" charset="0"/>
                      <a:cs typeface="CMU Bright" panose="02000603000000000000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13" name="Textfeld 12">
                    <a:extLst>
                      <a:ext uri="{FF2B5EF4-FFF2-40B4-BE49-F238E27FC236}">
                        <a16:creationId xmlns:a16="http://schemas.microsoft.com/office/drawing/2014/main" id="{58343EC7-8F5E-4B6A-319A-8A36CC8026A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3167" y="1115160"/>
                    <a:ext cx="2098651" cy="4662815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2616" r="-2035"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A4ABE22-921A-BB08-656C-83C71ECFB5D3}"/>
                </a:ext>
              </a:extLst>
            </p:cNvPr>
            <p:cNvSpPr txBox="1"/>
            <p:nvPr/>
          </p:nvSpPr>
          <p:spPr>
            <a:xfrm>
              <a:off x="3455432" y="926340"/>
              <a:ext cx="9541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Realität</a:t>
              </a:r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46885D9F-B208-9EA9-35AD-5C7F518E3B16}"/>
                </a:ext>
              </a:extLst>
            </p:cNvPr>
            <p:cNvSpPr txBox="1"/>
            <p:nvPr/>
          </p:nvSpPr>
          <p:spPr>
            <a:xfrm>
              <a:off x="4731789" y="926340"/>
              <a:ext cx="14654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Wissenschaft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978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18</Words>
  <Application>Microsoft Office PowerPoint</Application>
  <PresentationFormat>Benutzerdefiniert</PresentationFormat>
  <Paragraphs>21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CMU Bright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Dirk Ostwald</dc:creator>
  <cp:lastModifiedBy>Dirk Ostwald</cp:lastModifiedBy>
  <cp:revision>4</cp:revision>
  <dcterms:created xsi:type="dcterms:W3CDTF">2022-10-31T08:26:27Z</dcterms:created>
  <dcterms:modified xsi:type="dcterms:W3CDTF">2022-12-18T06:54:39Z</dcterms:modified>
</cp:coreProperties>
</file>