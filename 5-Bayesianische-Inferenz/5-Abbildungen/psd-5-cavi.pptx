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7920038" cy="5040313"/>
  <p:notesSz cx="6858000" cy="9144000"/>
  <p:defaultTextStyle>
    <a:defPPr>
      <a:defRPr lang="de-DE"/>
    </a:defPPr>
    <a:lvl1pPr marL="0" algn="l" defTabSz="740524" rtl="0" eaLnBrk="1" latinLnBrk="0" hangingPunct="1">
      <a:defRPr sz="1458" kern="1200">
        <a:solidFill>
          <a:schemeClr val="tx1"/>
        </a:solidFill>
        <a:latin typeface="+mn-lt"/>
        <a:ea typeface="+mn-ea"/>
        <a:cs typeface="+mn-cs"/>
      </a:defRPr>
    </a:lvl1pPr>
    <a:lvl2pPr marL="370262" algn="l" defTabSz="740524" rtl="0" eaLnBrk="1" latinLnBrk="0" hangingPunct="1">
      <a:defRPr sz="1458" kern="1200">
        <a:solidFill>
          <a:schemeClr val="tx1"/>
        </a:solidFill>
        <a:latin typeface="+mn-lt"/>
        <a:ea typeface="+mn-ea"/>
        <a:cs typeface="+mn-cs"/>
      </a:defRPr>
    </a:lvl2pPr>
    <a:lvl3pPr marL="740524" algn="l" defTabSz="740524" rtl="0" eaLnBrk="1" latinLnBrk="0" hangingPunct="1">
      <a:defRPr sz="1458" kern="1200">
        <a:solidFill>
          <a:schemeClr val="tx1"/>
        </a:solidFill>
        <a:latin typeface="+mn-lt"/>
        <a:ea typeface="+mn-ea"/>
        <a:cs typeface="+mn-cs"/>
      </a:defRPr>
    </a:lvl3pPr>
    <a:lvl4pPr marL="1110786" algn="l" defTabSz="740524" rtl="0" eaLnBrk="1" latinLnBrk="0" hangingPunct="1">
      <a:defRPr sz="1458" kern="1200">
        <a:solidFill>
          <a:schemeClr val="tx1"/>
        </a:solidFill>
        <a:latin typeface="+mn-lt"/>
        <a:ea typeface="+mn-ea"/>
        <a:cs typeface="+mn-cs"/>
      </a:defRPr>
    </a:lvl4pPr>
    <a:lvl5pPr marL="1481048" algn="l" defTabSz="740524" rtl="0" eaLnBrk="1" latinLnBrk="0" hangingPunct="1">
      <a:defRPr sz="1458" kern="1200">
        <a:solidFill>
          <a:schemeClr val="tx1"/>
        </a:solidFill>
        <a:latin typeface="+mn-lt"/>
        <a:ea typeface="+mn-ea"/>
        <a:cs typeface="+mn-cs"/>
      </a:defRPr>
    </a:lvl5pPr>
    <a:lvl6pPr marL="1851309" algn="l" defTabSz="740524" rtl="0" eaLnBrk="1" latinLnBrk="0" hangingPunct="1">
      <a:defRPr sz="1458" kern="1200">
        <a:solidFill>
          <a:schemeClr val="tx1"/>
        </a:solidFill>
        <a:latin typeface="+mn-lt"/>
        <a:ea typeface="+mn-ea"/>
        <a:cs typeface="+mn-cs"/>
      </a:defRPr>
    </a:lvl6pPr>
    <a:lvl7pPr marL="2221572" algn="l" defTabSz="740524" rtl="0" eaLnBrk="1" latinLnBrk="0" hangingPunct="1">
      <a:defRPr sz="1458" kern="1200">
        <a:solidFill>
          <a:schemeClr val="tx1"/>
        </a:solidFill>
        <a:latin typeface="+mn-lt"/>
        <a:ea typeface="+mn-ea"/>
        <a:cs typeface="+mn-cs"/>
      </a:defRPr>
    </a:lvl7pPr>
    <a:lvl8pPr marL="2591834" algn="l" defTabSz="740524" rtl="0" eaLnBrk="1" latinLnBrk="0" hangingPunct="1">
      <a:defRPr sz="1458" kern="1200">
        <a:solidFill>
          <a:schemeClr val="tx1"/>
        </a:solidFill>
        <a:latin typeface="+mn-lt"/>
        <a:ea typeface="+mn-ea"/>
        <a:cs typeface="+mn-cs"/>
      </a:defRPr>
    </a:lvl8pPr>
    <a:lvl9pPr marL="2962095" algn="l" defTabSz="740524" rtl="0" eaLnBrk="1" latinLnBrk="0" hangingPunct="1">
      <a:defRPr sz="145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8" userDrawn="1">
          <p15:clr>
            <a:srgbClr val="A4A3A4"/>
          </p15:clr>
        </p15:guide>
        <p15:guide id="2" pos="249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1" d="100"/>
          <a:sy n="141" d="100"/>
        </p:scale>
        <p:origin x="1290" y="114"/>
      </p:cViewPr>
      <p:guideLst>
        <p:guide orient="horz" pos="1588"/>
        <p:guide pos="249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94003" y="1565765"/>
            <a:ext cx="6732032" cy="1080401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88006" y="2856178"/>
            <a:ext cx="5544027" cy="12880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Formatvorlage des Untertitelmasters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D3C1-7518-48ED-A056-39D2644BA39B}" type="datetimeFigureOut">
              <a:rPr lang="de-DE" smtClean="0"/>
              <a:t>29.09.2022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A833-546F-42C6-889B-7CC29C257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3709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D3C1-7518-48ED-A056-39D2644BA39B}" type="datetimeFigureOut">
              <a:rPr lang="de-DE" smtClean="0"/>
              <a:t>29.09.2022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A833-546F-42C6-889B-7CC29C257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732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25629" y="3238868"/>
            <a:ext cx="6732032" cy="1001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25629" y="2136301"/>
            <a:ext cx="6732032" cy="110256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D3C1-7518-48ED-A056-39D2644BA39B}" type="datetimeFigureOut">
              <a:rPr lang="de-DE" smtClean="0"/>
              <a:t>29.09.2022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A833-546F-42C6-889B-7CC29C257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0228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396002" y="1176073"/>
            <a:ext cx="3498017" cy="3326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026020" y="1176073"/>
            <a:ext cx="3498017" cy="3326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D3C1-7518-48ED-A056-39D2644BA39B}" type="datetimeFigureOut">
              <a:rPr lang="de-DE" smtClean="0"/>
              <a:t>29.09.2022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A833-546F-42C6-889B-7CC29C257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0459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6002" y="1128237"/>
            <a:ext cx="3499393" cy="47019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396002" y="1598433"/>
            <a:ext cx="3499393" cy="29040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023270" y="1128237"/>
            <a:ext cx="3500767" cy="47019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023270" y="1598433"/>
            <a:ext cx="3500767" cy="290401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D3C1-7518-48ED-A056-39D2644BA39B}" type="datetimeFigureOut">
              <a:rPr lang="de-DE" smtClean="0"/>
              <a:t>29.09.2022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A833-546F-42C6-889B-7CC29C257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1853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D3C1-7518-48ED-A056-39D2644BA39B}" type="datetimeFigureOut">
              <a:rPr lang="de-DE" smtClean="0"/>
              <a:t>29.09.2022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A833-546F-42C6-889B-7CC29C257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6872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D3C1-7518-48ED-A056-39D2644BA39B}" type="datetimeFigureOut">
              <a:rPr lang="de-DE" smtClean="0"/>
              <a:t>29.09.2022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A833-546F-42C6-889B-7CC29C257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3528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96003" y="200679"/>
            <a:ext cx="2605638" cy="85405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096514" y="200680"/>
            <a:ext cx="4427522" cy="430176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396003" y="1054733"/>
            <a:ext cx="2605638" cy="344771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D3C1-7518-48ED-A056-39D2644BA39B}" type="datetimeFigureOut">
              <a:rPr lang="de-DE" smtClean="0"/>
              <a:t>29.09.2022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A833-546F-42C6-889B-7CC29C257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5815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552382" y="3528220"/>
            <a:ext cx="4752023" cy="41652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552382" y="450361"/>
            <a:ext cx="4752023" cy="302418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552382" y="3944746"/>
            <a:ext cx="4752023" cy="59153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D3C1-7518-48ED-A056-39D2644BA39B}" type="datetimeFigureOut">
              <a:rPr lang="de-DE" smtClean="0"/>
              <a:t>29.09.2022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A833-546F-42C6-889B-7CC29C257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3633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D3C1-7518-48ED-A056-39D2644BA39B}" type="datetimeFigureOut">
              <a:rPr lang="de-DE" smtClean="0"/>
              <a:t>29.09.2022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A833-546F-42C6-889B-7CC29C257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53867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5742027" y="201847"/>
            <a:ext cx="1782009" cy="43006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396002" y="201847"/>
            <a:ext cx="5214025" cy="4300600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DD3C1-7518-48ED-A056-39D2644BA39B}" type="datetimeFigureOut">
              <a:rPr lang="de-DE" smtClean="0"/>
              <a:t>29.09.2022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70A833-546F-42C6-889B-7CC29C257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4071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96002" y="201846"/>
            <a:ext cx="7128034" cy="8400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96002" y="1176073"/>
            <a:ext cx="7128034" cy="33263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396002" y="4671624"/>
            <a:ext cx="184800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7DD3C1-7518-48ED-A056-39D2644BA39B}" type="datetimeFigureOut">
              <a:rPr lang="de-DE" smtClean="0"/>
              <a:t>29.09.2022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706014" y="4671624"/>
            <a:ext cx="2508012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5676028" y="4671624"/>
            <a:ext cx="1848009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70A833-546F-42C6-889B-7CC29C257FF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75364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hteck 4"/>
              <p:cNvSpPr/>
              <p:nvPr/>
            </p:nvSpPr>
            <p:spPr>
              <a:xfrm>
                <a:off x="205577" y="1943880"/>
                <a:ext cx="3312368" cy="64807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ELBO</m:t>
                    </m:r>
                    <m:d>
                      <m:d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𝑞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  <m: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𝑞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\</m:t>
                                </m:r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𝑠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r>
                  <a:rPr lang="de-DE" sz="14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" name="Rechteck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77" y="1943880"/>
                <a:ext cx="3312368" cy="64807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hteck 5"/>
              <p:cNvSpPr/>
              <p:nvPr/>
            </p:nvSpPr>
            <p:spPr>
              <a:xfrm>
                <a:off x="3517945" y="1943880"/>
                <a:ext cx="3960440" cy="64807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KL</m:t>
                    </m:r>
                    <m:r>
                      <a:rPr lang="de-DE" sz="14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+1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\</m:t>
                            </m:r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de-DE" sz="1400" i="1">
                        <a:solidFill>
                          <a:schemeClr val="tx1"/>
                        </a:solidFill>
                        <a:latin typeface="Cambria Math"/>
                      </a:rPr>
                      <m:t>|</m:t>
                    </m:r>
                    <m:d>
                      <m:dPr>
                        <m:begChr m:val="|"/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de-DE" sz="14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6" name="Rechteck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945" y="1943880"/>
                <a:ext cx="3960440" cy="64807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hteck 6"/>
              <p:cNvSpPr/>
              <p:nvPr/>
            </p:nvSpPr>
            <p:spPr>
              <a:xfrm>
                <a:off x="202880" y="2860977"/>
                <a:ext cx="4176464" cy="64807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ELBO</m:t>
                    </m:r>
                    <m:d>
                      <m:d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𝑞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  <m: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𝑞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+1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\</m:t>
                                </m:r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𝑠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r>
                  <a:rPr lang="de-DE" sz="14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7" name="Rechteck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880" y="2860977"/>
                <a:ext cx="4176464" cy="6480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hteck 7"/>
              <p:cNvSpPr/>
              <p:nvPr/>
            </p:nvSpPr>
            <p:spPr>
              <a:xfrm>
                <a:off x="4379344" y="2860977"/>
                <a:ext cx="3096344" cy="64807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KL</m:t>
                    </m:r>
                    <m:r>
                      <a:rPr lang="de-DE" sz="14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+1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+1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\</m:t>
                            </m:r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de-DE" sz="1400" i="1">
                        <a:solidFill>
                          <a:schemeClr val="tx1"/>
                        </a:solidFill>
                        <a:latin typeface="Cambria Math"/>
                      </a:rPr>
                      <m:t>|</m:t>
                    </m:r>
                    <m:d>
                      <m:dPr>
                        <m:begChr m:val="|"/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de-DE" sz="14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8" name="Rechteck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9344" y="2860977"/>
                <a:ext cx="3096344" cy="6480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64404194-D83B-4F5B-9CCD-42F540ED3993}"/>
                  </a:ext>
                </a:extLst>
              </p:cNvPr>
              <p:cNvSpPr/>
              <p:nvPr/>
            </p:nvSpPr>
            <p:spPr>
              <a:xfrm>
                <a:off x="205577" y="575728"/>
                <a:ext cx="2376264" cy="64807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ELBO</m:t>
                    </m:r>
                    <m:d>
                      <m:d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𝑞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𝑠</m:t>
                                </m:r>
                              </m:sub>
                            </m:sSub>
                          </m:e>
                        </m:d>
                        <m: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𝑞</m:t>
                            </m:r>
                          </m:e>
                          <m:sup>
                            <m:d>
                              <m:dPr>
                                <m:ctrlP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\</m:t>
                                </m:r>
                                <m:r>
                                  <a:rPr lang="de-DE" sz="1400" i="1">
                                    <a:solidFill>
                                      <a:schemeClr val="tx1"/>
                                    </a:solidFill>
                                    <a:latin typeface="Cambria Math"/>
                                  </a:rPr>
                                  <m:t>𝑠</m:t>
                                </m:r>
                              </m:sub>
                            </m:sSub>
                            <m:r>
                              <m:rPr>
                                <m:lit/>
                              </m:r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 </m:t>
                            </m:r>
                          </m:e>
                        </m:d>
                      </m:e>
                    </m:d>
                  </m:oMath>
                </a14:m>
                <a:r>
                  <a:rPr lang="de-DE" sz="14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Rechteck 8">
                <a:extLst>
                  <a:ext uri="{FF2B5EF4-FFF2-40B4-BE49-F238E27FC236}">
                    <a16:creationId xmlns:a16="http://schemas.microsoft.com/office/drawing/2014/main" id="{64404194-D83B-4F5B-9CCD-42F540ED399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577" y="575728"/>
                <a:ext cx="2376264" cy="6480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EBA9C04C-F899-4DE2-AB53-B0290F911D82}"/>
                  </a:ext>
                </a:extLst>
              </p:cNvPr>
              <p:cNvSpPr/>
              <p:nvPr/>
            </p:nvSpPr>
            <p:spPr>
              <a:xfrm>
                <a:off x="2581841" y="575728"/>
                <a:ext cx="4896544" cy="648072"/>
              </a:xfrm>
              <a:prstGeom prst="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14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KL</m:t>
                    </m:r>
                    <m:r>
                      <a:rPr lang="de-DE" sz="140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𝑖</m:t>
                            </m:r>
                          </m:e>
                        </m:d>
                      </m:sup>
                    </m:sSup>
                    <m:d>
                      <m:dPr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\</m:t>
                            </m:r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𝑠</m:t>
                            </m:r>
                          </m:sub>
                        </m:sSub>
                        <m:r>
                          <m:rPr>
                            <m:lit/>
                          </m:rP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 </m:t>
                        </m:r>
                      </m:e>
                    </m:d>
                    <m:r>
                      <a:rPr lang="de-DE" sz="1400" i="1">
                        <a:solidFill>
                          <a:schemeClr val="tx1"/>
                        </a:solidFill>
                        <a:latin typeface="Cambria Math"/>
                      </a:rPr>
                      <m:t>|</m:t>
                    </m:r>
                    <m:d>
                      <m:dPr>
                        <m:begChr m:val="|"/>
                        <m:ctrlPr>
                          <a:rPr lang="de-DE" sz="1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sz="140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𝑝</m:t>
                        </m:r>
                        <m:d>
                          <m:dPr>
                            <m:ctrlP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e>
                            <m:r>
                              <a:rPr lang="de-DE" sz="1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</m:d>
                  </m:oMath>
                </a14:m>
                <a:r>
                  <a:rPr lang="de-DE" sz="1400" dirty="0">
                    <a:solidFill>
                      <a:schemeClr val="tx1"/>
                    </a:solidFill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 </a:t>
                </a:r>
              </a:p>
            </p:txBody>
          </p:sp>
        </mc:Choice>
        <mc:Fallback xmlns="">
          <p:sp>
            <p:nvSpPr>
              <p:cNvPr id="10" name="Rechteck 9">
                <a:extLst>
                  <a:ext uri="{FF2B5EF4-FFF2-40B4-BE49-F238E27FC236}">
                    <a16:creationId xmlns:a16="http://schemas.microsoft.com/office/drawing/2014/main" id="{EBA9C04C-F899-4DE2-AB53-B0290F911D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1841" y="575728"/>
                <a:ext cx="4896544" cy="6480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4500B7A-9ADC-4710-8C15-FF1115EEF36D}"/>
                  </a:ext>
                </a:extLst>
              </p:cNvPr>
              <p:cNvSpPr txBox="1"/>
              <p:nvPr/>
            </p:nvSpPr>
            <p:spPr>
              <a:xfrm>
                <a:off x="143596" y="1411494"/>
                <a:ext cx="2041072" cy="3166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On </a:t>
                </a:r>
                <a:r>
                  <a:rPr lang="de-DE" dirty="0" err="1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iteration</a:t>
                </a:r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𝑖</m:t>
                    </m:r>
                    <m:r>
                      <a:rPr lang="de-DE" i="1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=1,2,…</m:t>
                    </m:r>
                  </m:oMath>
                </a14:m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94500B7A-9ADC-4710-8C15-FF1115EEF3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96" y="1411494"/>
                <a:ext cx="2041072" cy="316690"/>
              </a:xfrm>
              <a:prstGeom prst="rect">
                <a:avLst/>
              </a:prstGeom>
              <a:blipFill>
                <a:blip r:embed="rId8"/>
                <a:stretch>
                  <a:fillRect l="-1198" t="-1961" b="-23529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feld 2">
            <a:extLst>
              <a:ext uri="{FF2B5EF4-FFF2-40B4-BE49-F238E27FC236}">
                <a16:creationId xmlns:a16="http://schemas.microsoft.com/office/drawing/2014/main" id="{CA630F92-7F90-448B-BBC4-04C7AC74777D}"/>
              </a:ext>
            </a:extLst>
          </p:cNvPr>
          <p:cNvSpPr txBox="1"/>
          <p:nvPr/>
        </p:nvSpPr>
        <p:spPr>
          <a:xfrm>
            <a:off x="133570" y="3778075"/>
            <a:ext cx="1635384" cy="3166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Upon </a:t>
            </a:r>
            <a:r>
              <a:rPr lang="de-DE" dirty="0" err="1">
                <a:latin typeface="CMU Bright" panose="02000603000000000000" pitchFamily="2" charset="0"/>
                <a:ea typeface="CMU Bright" panose="02000603000000000000" pitchFamily="2" charset="0"/>
                <a:cs typeface="CMU Bright" panose="02000603000000000000" pitchFamily="2" charset="0"/>
              </a:rPr>
              <a:t>convergence</a:t>
            </a:r>
            <a:endParaRPr lang="de-DE" dirty="0">
              <a:latin typeface="CMU Bright" panose="02000603000000000000" pitchFamily="2" charset="0"/>
              <a:ea typeface="CMU Bright" panose="02000603000000000000" pitchFamily="2" charset="0"/>
              <a:cs typeface="CMU Bright" panose="02000603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2724436C-B2A0-43FC-9916-0736F6E6C112}"/>
                  </a:ext>
                </a:extLst>
              </p:cNvPr>
              <p:cNvSpPr/>
              <p:nvPr/>
            </p:nvSpPr>
            <p:spPr>
              <a:xfrm>
                <a:off x="357980" y="4330242"/>
                <a:ext cx="7204078" cy="4608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de-DE" sz="160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de-DE" sz="160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  <m:r>
                        <a:rPr lang="de-DE" sz="1600" i="1">
                          <a:latin typeface="Cambria Math" panose="02040503050406030204" pitchFamily="18" charset="0"/>
                        </a:rPr>
                        <m:t>≈</m:t>
                      </m:r>
                      <m:r>
                        <m:rPr>
                          <m:sty m:val="p"/>
                        </m:rPr>
                        <a:rPr lang="de-DE" sz="1600">
                          <a:latin typeface="Cambria Math" panose="02040503050406030204" pitchFamily="18" charset="0"/>
                        </a:rPr>
                        <m:t>ELBO</m:t>
                      </m:r>
                      <m:d>
                        <m:d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600" i="1">
                                  <a:latin typeface="Cambria Math"/>
                                </a:rPr>
                                <m:t>𝑞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1600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de-DE" sz="1600" i="1">
                                      <a:latin typeface="Cambria Math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sz="1600" i="1">
                                      <a:latin typeface="Cambria Math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d>
                          <m:r>
                            <a:rPr lang="de-DE" sz="1600" i="1">
                              <a:latin typeface="Cambria Math"/>
                            </a:rPr>
                            <m:t>,</m:t>
                          </m:r>
                          <m:sSup>
                            <m:sSupPr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DE" sz="1600" i="1">
                                  <a:latin typeface="Cambria Math"/>
                                </a:rPr>
                                <m:t>𝑞</m:t>
                              </m:r>
                            </m:e>
                            <m:sup>
                              <m:d>
                                <m:dPr>
                                  <m:ctrlP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DE" sz="1600" i="1">
                                      <a:latin typeface="Cambria Math"/>
                                    </a:rPr>
                                    <m:t>𝑖</m:t>
                                  </m:r>
                                  <m:r>
                                    <a:rPr lang="de-DE" sz="1600" i="1">
                                      <a:latin typeface="Cambria Math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d>
                            <m:dPr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de-DE" sz="1600" i="1"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b>
                                  <m:r>
                                    <a:rPr lang="de-DE" sz="1600" i="1">
                                      <a:latin typeface="Cambria Math"/>
                                    </a:rPr>
                                    <m:t>\</m:t>
                                  </m:r>
                                  <m:r>
                                    <a:rPr lang="de-DE" sz="1600" i="1">
                                      <a:latin typeface="Cambria Math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m:rPr>
                                  <m:lit/>
                                </m:rPr>
                                <a:rPr lang="de-DE" sz="1600" i="1">
                                  <a:latin typeface="Cambria Math"/>
                                </a:rPr>
                                <m:t> </m:t>
                              </m:r>
                            </m:e>
                          </m:d>
                        </m:e>
                      </m:d>
                      <m:r>
                        <m:rPr>
                          <m:nor/>
                        </m:rPr>
                        <a:rPr lang="de-DE" sz="1600" dirty="0">
                          <a:latin typeface="CMU Bright" panose="02000603000000000000" pitchFamily="2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de-DE" sz="1600" dirty="0">
                          <a:latin typeface="CMU Bright" panose="02000603000000000000" pitchFamily="2" charset="0"/>
                          <a:ea typeface="CMU Bright" panose="02000603000000000000" pitchFamily="2" charset="0"/>
                          <a:cs typeface="CMU Bright" panose="02000603000000000000" pitchFamily="2" charset="0"/>
                        </a:rPr>
                        <m:t>and</m:t>
                      </m:r>
                      <m:r>
                        <a:rPr lang="de-DE" sz="1600" i="1" dirty="0">
                          <a:latin typeface="Cambria Math" panose="02040503050406030204" pitchFamily="18" charset="0"/>
                          <a:ea typeface="CMU Serif" panose="02000603000000000000" pitchFamily="2" charset="0"/>
                          <a:cs typeface="CMU Serif" panose="02000603000000000000" pitchFamily="2" charset="0"/>
                        </a:rPr>
                        <m:t> </m:t>
                      </m:r>
                      <m:r>
                        <a:rPr lang="de-DE" sz="16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6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e>
                          <m:r>
                            <a:rPr lang="de-DE" sz="16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de-DE" sz="1600" i="1">
                          <a:latin typeface="Cambria Math" panose="02040503050406030204" pitchFamily="18" charset="0"/>
                        </a:rPr>
                        <m:t>≈</m:t>
                      </m:r>
                      <m:sSup>
                        <m:sSup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600" i="1">
                              <a:latin typeface="Cambria Math"/>
                            </a:rPr>
                            <m:t>𝑞</m:t>
                          </m:r>
                        </m:e>
                        <m:sup>
                          <m:d>
                            <m:dPr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6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de-DE" sz="1600" i="1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1600" i="1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</m:e>
                      </m:d>
                      <m:sSup>
                        <m:sSup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600" i="1">
                              <a:latin typeface="Cambria Math"/>
                            </a:rPr>
                            <m:t>𝑞</m:t>
                          </m:r>
                        </m:e>
                        <m:sup>
                          <m:d>
                            <m:dPr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DE" sz="1600" i="1">
                                  <a:latin typeface="Cambria Math"/>
                                </a:rPr>
                                <m:t>𝑖</m:t>
                              </m:r>
                              <m:r>
                                <a:rPr lang="de-DE" sz="1600" i="1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</m:sup>
                      </m:sSup>
                      <m:d>
                        <m:dPr>
                          <m:ctrlPr>
                            <a:rPr lang="de-DE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de-DE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de-DE" sz="1600" i="1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de-DE" sz="1600" i="1">
                                  <a:latin typeface="Cambria Math"/>
                                </a:rPr>
                                <m:t>\</m:t>
                              </m:r>
                              <m:r>
                                <a:rPr lang="de-DE" sz="1600" i="1">
                                  <a:latin typeface="Cambria Math"/>
                                </a:rPr>
                                <m:t>𝑠</m:t>
                              </m:r>
                            </m:sub>
                          </m:sSub>
                          <m:r>
                            <m:rPr>
                              <m:lit/>
                            </m:rPr>
                            <a:rPr lang="de-DE" sz="1600" i="1">
                              <a:latin typeface="Cambria Math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de-DE" sz="1600" dirty="0">
                  <a:latin typeface="CMU Bright" panose="02000603000000000000" pitchFamily="2" charset="0"/>
                  <a:ea typeface="CMU Bright" panose="02000603000000000000" pitchFamily="2" charset="0"/>
                  <a:cs typeface="CMU Bright" panose="02000603000000000000" pitchFamily="2" charset="0"/>
                </a:endParaRPr>
              </a:p>
            </p:txBody>
          </p:sp>
        </mc:Choice>
        <mc:Fallback>
          <p:sp>
            <p:nvSpPr>
              <p:cNvPr id="11" name="Rechteck 10">
                <a:extLst>
                  <a:ext uri="{FF2B5EF4-FFF2-40B4-BE49-F238E27FC236}">
                    <a16:creationId xmlns:a16="http://schemas.microsoft.com/office/drawing/2014/main" id="{2724436C-B2A0-43FC-9916-0736F6E6C1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980" y="4330242"/>
                <a:ext cx="7204078" cy="4608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51294403-76ED-485C-A1B4-2E33CEB49ED4}"/>
                  </a:ext>
                </a:extLst>
              </p:cNvPr>
              <p:cNvSpPr txBox="1"/>
              <p:nvPr/>
            </p:nvSpPr>
            <p:spPr>
              <a:xfrm>
                <a:off x="143595" y="71885"/>
                <a:ext cx="2321598" cy="3166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Before </a:t>
                </a:r>
                <a:r>
                  <a:rPr lang="de-DE" dirty="0" err="1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iteration</a:t>
                </a:r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DE" i="1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𝑖</m:t>
                    </m:r>
                    <m:r>
                      <a:rPr lang="de-DE" i="1">
                        <a:latin typeface="Cambria Math" panose="02040503050406030204" pitchFamily="18" charset="0"/>
                        <a:ea typeface="CMU Serif" panose="02000603000000000000" pitchFamily="2" charset="0"/>
                        <a:cs typeface="CMU Serif" panose="02000603000000000000" pitchFamily="2" charset="0"/>
                      </a:rPr>
                      <m:t>=1,2,…</m:t>
                    </m:r>
                  </m:oMath>
                </a14:m>
                <a:r>
                  <a:rPr lang="de-DE" dirty="0">
                    <a:latin typeface="CMU Bright" panose="02000603000000000000" pitchFamily="2" charset="0"/>
                    <a:ea typeface="CMU Bright" panose="02000603000000000000" pitchFamily="2" charset="0"/>
                    <a:cs typeface="CMU Bright" panose="02000603000000000000" pitchFamily="2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51294403-76ED-485C-A1B4-2E33CEB49E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595" y="71885"/>
                <a:ext cx="2321598" cy="316690"/>
              </a:xfrm>
              <a:prstGeom prst="rect">
                <a:avLst/>
              </a:prstGeom>
              <a:blipFill>
                <a:blip r:embed="rId10"/>
                <a:stretch>
                  <a:fillRect l="-1053" t="-1923" b="-21154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12622529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Benutzerdefiniert</PresentationFormat>
  <Paragraphs>10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CMU Bright</vt:lpstr>
      <vt:lpstr>Larissa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Ostwald, Dirk</dc:creator>
  <cp:lastModifiedBy>Dirk Ostwald</cp:lastModifiedBy>
  <cp:revision>13</cp:revision>
  <dcterms:created xsi:type="dcterms:W3CDTF">2013-07-11T06:34:20Z</dcterms:created>
  <dcterms:modified xsi:type="dcterms:W3CDTF">2022-09-29T05:14:18Z</dcterms:modified>
</cp:coreProperties>
</file>