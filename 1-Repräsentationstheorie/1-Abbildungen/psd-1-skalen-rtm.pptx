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F5801-9DCC-4DB0-AEA1-7C6A9C27BD62}" v="950" dt="2024-11-28T10:00:25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22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7197"/>
            <a:ext cx="7772400" cy="26318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580"/>
            <a:ext cx="6858000" cy="18251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97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98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884671"/>
            <a:ext cx="7886700" cy="3144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059035"/>
            <a:ext cx="7886700" cy="16536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787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012414"/>
            <a:ext cx="38862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012414"/>
            <a:ext cx="38862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10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2484"/>
            <a:ext cx="7886700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171"/>
            <a:ext cx="3868340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761381"/>
            <a:ext cx="3868340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853171"/>
            <a:ext cx="3887391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761381"/>
            <a:ext cx="3887391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47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6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65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3978"/>
            <a:ext cx="29491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8455"/>
            <a:ext cx="4629150" cy="53722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7902"/>
            <a:ext cx="29491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79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3978"/>
            <a:ext cx="29491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88455"/>
            <a:ext cx="4629150" cy="537226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7902"/>
            <a:ext cx="29491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43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6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02483"/>
            <a:ext cx="1971675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02483"/>
            <a:ext cx="5800725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78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02484"/>
            <a:ext cx="788670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12414"/>
            <a:ext cx="788670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006700"/>
            <a:ext cx="20574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006700"/>
            <a:ext cx="30861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006700"/>
            <a:ext cx="20574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233B-A8DC-DB0C-1ECD-500FFBD7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21F572E-5D3A-2FF2-BD77-660608BF5960}"/>
              </a:ext>
            </a:extLst>
          </p:cNvPr>
          <p:cNvSpPr/>
          <p:nvPr/>
        </p:nvSpPr>
        <p:spPr>
          <a:xfrm>
            <a:off x="6952230" y="188064"/>
            <a:ext cx="1758999" cy="95146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DF0354B-8ED0-AAFA-0963-678D3C9679EC}"/>
              </a:ext>
            </a:extLst>
          </p:cNvPr>
          <p:cNvSpPr/>
          <p:nvPr/>
        </p:nvSpPr>
        <p:spPr>
          <a:xfrm>
            <a:off x="3504205" y="159275"/>
            <a:ext cx="3000452" cy="104603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 dirty="0">
              <a:solidFill>
                <a:schemeClr val="tx1"/>
              </a:solidFill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23F1EFF-8DE4-F4A0-8A0B-F48AE0DA15BD}"/>
              </a:ext>
            </a:extLst>
          </p:cNvPr>
          <p:cNvSpPr/>
          <p:nvPr/>
        </p:nvSpPr>
        <p:spPr>
          <a:xfrm>
            <a:off x="451303" y="336954"/>
            <a:ext cx="2523338" cy="6580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de-DE" sz="1100" dirty="0">
              <a:solidFill>
                <a:schemeClr val="tx1"/>
              </a:solidFill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pPr algn="ctr">
              <a:lnSpc>
                <a:spcPct val="150000"/>
              </a:lnSpc>
            </a:pPr>
            <a:endParaRPr lang="de-DE" sz="1100" dirty="0">
              <a:solidFill>
                <a:schemeClr val="tx1"/>
              </a:solidFill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D5C951-EA8A-9C81-9BC0-8035BB6EA71D}"/>
              </a:ext>
            </a:extLst>
          </p:cNvPr>
          <p:cNvSpPr txBox="1"/>
          <p:nvPr/>
        </p:nvSpPr>
        <p:spPr>
          <a:xfrm>
            <a:off x="1010696" y="420681"/>
            <a:ext cx="1404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Qualitatives  </a:t>
            </a:r>
          </a:p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Relationssystem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2DEC6C8-FE9E-0348-F8E2-F441D60C4501}"/>
                  </a:ext>
                </a:extLst>
              </p:cNvPr>
              <p:cNvSpPr txBox="1"/>
              <p:nvPr/>
            </p:nvSpPr>
            <p:spPr>
              <a:xfrm>
                <a:off x="3811275" y="414616"/>
                <a:ext cx="24920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4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Homomorphismen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m:t>𝑓</m:t>
                    </m:r>
                  </m:oMath>
                </a14:m>
                <a:endPara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  <a:p>
                <a:pPr algn="ctr"/>
                <a:r>
                  <a:rPr lang="de-DE" sz="14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Zulässige Transformationen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m:t>𝜙</m:t>
                    </m:r>
                  </m:oMath>
                </a14:m>
                <a:endPara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2DEC6C8-FE9E-0348-F8E2-F441D60C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275" y="414616"/>
                <a:ext cx="2492029" cy="523220"/>
              </a:xfrm>
              <a:prstGeom prst="rect">
                <a:avLst/>
              </a:prstGeom>
              <a:blipFill>
                <a:blip r:embed="rId2"/>
                <a:stretch>
                  <a:fillRect l="-244" t="-1163" b="-127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D0BDB29A-DAA6-BC6D-632F-0344327F4498}"/>
              </a:ext>
            </a:extLst>
          </p:cNvPr>
          <p:cNvSpPr txBox="1"/>
          <p:nvPr/>
        </p:nvSpPr>
        <p:spPr>
          <a:xfrm>
            <a:off x="7167010" y="402188"/>
            <a:ext cx="1404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Quantitatives </a:t>
            </a:r>
          </a:p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Relationssystem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E7D851F-A359-2DD4-C603-A8DC60C36988}"/>
              </a:ext>
            </a:extLst>
          </p:cNvPr>
          <p:cNvGrpSpPr/>
          <p:nvPr/>
        </p:nvGrpSpPr>
        <p:grpSpPr>
          <a:xfrm>
            <a:off x="173198" y="1479328"/>
            <a:ext cx="8538031" cy="1430884"/>
            <a:chOff x="82458" y="1402548"/>
            <a:chExt cx="8538031" cy="1430884"/>
          </a:xfrm>
        </p:grpSpPr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5186B51-9FA8-66B6-40E5-CEEDFA913465}"/>
                </a:ext>
              </a:extLst>
            </p:cNvPr>
            <p:cNvCxnSpPr>
              <a:stCxn id="19" idx="3"/>
              <a:endCxn id="23" idx="1"/>
            </p:cNvCxnSpPr>
            <p:nvPr/>
          </p:nvCxnSpPr>
          <p:spPr>
            <a:xfrm>
              <a:off x="2883901" y="2201121"/>
              <a:ext cx="397758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96EF5FD-37A9-CBD5-9216-B1368595E968}"/>
                </a:ext>
              </a:extLst>
            </p:cNvPr>
            <p:cNvSpPr/>
            <p:nvPr/>
          </p:nvSpPr>
          <p:spPr>
            <a:xfrm>
              <a:off x="3413465" y="1636465"/>
              <a:ext cx="3000452" cy="11969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AF78D3D-9D50-5E61-6BB4-1008EC5888BF}"/>
                </a:ext>
              </a:extLst>
            </p:cNvPr>
            <p:cNvSpPr txBox="1"/>
            <p:nvPr/>
          </p:nvSpPr>
          <p:spPr>
            <a:xfrm>
              <a:off x="82458" y="1402548"/>
              <a:ext cx="126028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Nominalskala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hteck: abgerundete Ecken 18">
                  <a:extLst>
                    <a:ext uri="{FF2B5EF4-FFF2-40B4-BE49-F238E27FC236}">
                      <a16:creationId xmlns:a16="http://schemas.microsoft.com/office/drawing/2014/main" id="{02AE95F5-C592-1509-66AE-D797C5F9302B}"/>
                    </a:ext>
                  </a:extLst>
                </p:cNvPr>
                <p:cNvSpPr/>
                <p:nvPr/>
              </p:nvSpPr>
              <p:spPr>
                <a:xfrm>
                  <a:off x="360563" y="1872081"/>
                  <a:ext cx="2523338" cy="658079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de-DE" sz="1200" dirty="0">
                      <a:solidFill>
                        <a:schemeClr val="tx1"/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Klassifikationsstruktur</a:t>
                  </a:r>
                  <a14:m>
                    <m:oMath xmlns:m="http://schemas.openxmlformats.org/officeDocument/2006/math">
                      <m:r>
                        <a:rPr lang="de-DE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 </m:t>
                      </m:r>
                    </m:oMath>
                  </a14:m>
                  <a:endParaRPr lang="de-DE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(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, ~)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9" name="Rechteck: abgerundete Ecken 18">
                  <a:extLst>
                    <a:ext uri="{FF2B5EF4-FFF2-40B4-BE49-F238E27FC236}">
                      <a16:creationId xmlns:a16="http://schemas.microsoft.com/office/drawing/2014/main" id="{02AE95F5-C592-1509-66AE-D797C5F930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563" y="1872081"/>
                  <a:ext cx="2523338" cy="658079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hteck: abgerundete Ecken 22">
                  <a:extLst>
                    <a:ext uri="{FF2B5EF4-FFF2-40B4-BE49-F238E27FC236}">
                      <a16:creationId xmlns:a16="http://schemas.microsoft.com/office/drawing/2014/main" id="{FBFF92C7-0885-1BFA-D44C-DF296E76D0AE}"/>
                    </a:ext>
                  </a:extLst>
                </p:cNvPr>
                <p:cNvSpPr/>
                <p:nvPr/>
              </p:nvSpPr>
              <p:spPr>
                <a:xfrm>
                  <a:off x="6861490" y="1725386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ℝ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, =</m:t>
                            </m:r>
                          </m:e>
                        </m:d>
                      </m:oMath>
                    </m:oMathPara>
                  </a14:m>
                  <a:endPara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3" name="Rechteck: abgerundete Ecken 22">
                  <a:extLst>
                    <a:ext uri="{FF2B5EF4-FFF2-40B4-BE49-F238E27FC236}">
                      <a16:creationId xmlns:a16="http://schemas.microsoft.com/office/drawing/2014/main" id="{FBFF92C7-0885-1BFA-D44C-DF296E76D0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1490" y="1725386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156254D3-6E2C-1023-FAC7-100786AE8197}"/>
                    </a:ext>
                  </a:extLst>
                </p:cNvPr>
                <p:cNvSpPr txBox="1"/>
                <p:nvPr/>
              </p:nvSpPr>
              <p:spPr>
                <a:xfrm>
                  <a:off x="3696811" y="1820183"/>
                  <a:ext cx="2515753" cy="7618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: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→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ℝ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mit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𝑚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~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𝑛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⇔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=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ambria Math" panose="02040503050406030204" pitchFamily="18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0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→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↦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de-DE" sz="1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de-DE" sz="1000" i="1" dirty="0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de-DE" sz="10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000" dirty="0">
                          <a:latin typeface="Cambria Math" panose="02040503050406030204" pitchFamily="18" charset="0"/>
                        </a:rPr>
                        <m:t>mit</m:t>
                      </m:r>
                      <m:r>
                        <a:rPr lang="de-DE" sz="10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⇔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e-DE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e-DE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de-DE" sz="1000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156254D3-6E2C-1023-FAC7-100786AE8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6811" y="1820183"/>
                  <a:ext cx="2515753" cy="761875"/>
                </a:xfrm>
                <a:prstGeom prst="rect">
                  <a:avLst/>
                </a:prstGeom>
                <a:blipFill>
                  <a:blip r:embed="rId5"/>
                  <a:stretch>
                    <a:fillRect b="-8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C827FF2-90E0-9121-3300-8DB3F41DA59D}"/>
              </a:ext>
            </a:extLst>
          </p:cNvPr>
          <p:cNvGrpSpPr/>
          <p:nvPr/>
        </p:nvGrpSpPr>
        <p:grpSpPr>
          <a:xfrm>
            <a:off x="173198" y="2919329"/>
            <a:ext cx="8538031" cy="1482668"/>
            <a:chOff x="82458" y="2888662"/>
            <a:chExt cx="8538031" cy="1482668"/>
          </a:xfrm>
        </p:grpSpPr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28048B01-241C-B0A9-256C-84212F316298}"/>
                </a:ext>
              </a:extLst>
            </p:cNvPr>
            <p:cNvCxnSpPr>
              <a:stCxn id="20" idx="3"/>
              <a:endCxn id="39" idx="1"/>
            </p:cNvCxnSpPr>
            <p:nvPr/>
          </p:nvCxnSpPr>
          <p:spPr>
            <a:xfrm>
              <a:off x="2926207" y="3772847"/>
              <a:ext cx="3935283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7AED223-AE82-267D-01C5-3D5CB429541B}"/>
                </a:ext>
              </a:extLst>
            </p:cNvPr>
            <p:cNvSpPr txBox="1"/>
            <p:nvPr/>
          </p:nvSpPr>
          <p:spPr>
            <a:xfrm>
              <a:off x="82458" y="2888662"/>
              <a:ext cx="244650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Ordinalskala bei Ordnungen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hteck: abgerundete Ecken 19">
                  <a:extLst>
                    <a:ext uri="{FF2B5EF4-FFF2-40B4-BE49-F238E27FC236}">
                      <a16:creationId xmlns:a16="http://schemas.microsoft.com/office/drawing/2014/main" id="{84EE974C-700D-016B-09BE-84850C27938F}"/>
                    </a:ext>
                  </a:extLst>
                </p:cNvPr>
                <p:cNvSpPr/>
                <p:nvPr/>
              </p:nvSpPr>
              <p:spPr>
                <a:xfrm>
                  <a:off x="318257" y="3442518"/>
                  <a:ext cx="2607950" cy="660657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de-DE" sz="1200" dirty="0">
                      <a:solidFill>
                        <a:schemeClr val="tx1"/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Strenge schwache Ordnung</a:t>
                  </a:r>
                  <a14:m>
                    <m:oMath xmlns:m="http://schemas.openxmlformats.org/officeDocument/2006/math">
                      <m:r>
                        <a:rPr lang="de-DE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 </m:t>
                      </m:r>
                    </m:oMath>
                  </a14:m>
                  <a:endParaRPr lang="de-DE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(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, ≻)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0" name="Rechteck: abgerundete Ecken 19">
                  <a:extLst>
                    <a:ext uri="{FF2B5EF4-FFF2-40B4-BE49-F238E27FC236}">
                      <a16:creationId xmlns:a16="http://schemas.microsoft.com/office/drawing/2014/main" id="{84EE974C-700D-016B-09BE-84850C2793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257" y="3442518"/>
                  <a:ext cx="2607950" cy="66065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F37FE180-3E7B-999C-ACB1-7F60059DD82B}"/>
                </a:ext>
              </a:extLst>
            </p:cNvPr>
            <p:cNvSpPr/>
            <p:nvPr/>
          </p:nvSpPr>
          <p:spPr>
            <a:xfrm>
              <a:off x="3413465" y="3174363"/>
              <a:ext cx="3000452" cy="11969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F63FF148-4EA2-CE09-32AB-95A5E1D9F081}"/>
                    </a:ext>
                  </a:extLst>
                </p:cNvPr>
                <p:cNvSpPr txBox="1"/>
                <p:nvPr/>
              </p:nvSpPr>
              <p:spPr>
                <a:xfrm>
                  <a:off x="3616500" y="3331571"/>
                  <a:ext cx="2676374" cy="784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: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→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ℝ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mit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𝑚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≻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𝑛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⇔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&gt;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ambria Math" panose="02040503050406030204" pitchFamily="18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→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↦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de-DE" sz="1000" dirty="0">
                    <a:latin typeface="LatinModernMath-Regular-Identity-H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000" dirty="0">
                            <a:latin typeface="Cambria Math" panose="02040503050406030204" pitchFamily="18" charset="0"/>
                          </a:rPr>
                          <m:t>mit</m:t>
                        </m:r>
                        <m:r>
                          <a:rPr lang="de-DE" sz="1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&gt;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⇔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&gt;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∀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∈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F63FF148-4EA2-CE09-32AB-95A5E1D9F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6500" y="3331571"/>
                  <a:ext cx="2676374" cy="7848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hteck: abgerundete Ecken 38">
                  <a:extLst>
                    <a:ext uri="{FF2B5EF4-FFF2-40B4-BE49-F238E27FC236}">
                      <a16:creationId xmlns:a16="http://schemas.microsoft.com/office/drawing/2014/main" id="{2F1CF790-5EBF-99A6-AB76-93A8CFB89D7F}"/>
                    </a:ext>
                  </a:extLst>
                </p:cNvPr>
                <p:cNvSpPr/>
                <p:nvPr/>
              </p:nvSpPr>
              <p:spPr>
                <a:xfrm>
                  <a:off x="6861490" y="3297112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ℝ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, &gt;</m:t>
                            </m:r>
                          </m:e>
                        </m:d>
                      </m:oMath>
                    </m:oMathPara>
                  </a14:m>
                  <a:endPara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9" name="Rechteck: abgerundete Ecken 38">
                  <a:extLst>
                    <a:ext uri="{FF2B5EF4-FFF2-40B4-BE49-F238E27FC236}">
                      <a16:creationId xmlns:a16="http://schemas.microsoft.com/office/drawing/2014/main" id="{2F1CF790-5EBF-99A6-AB76-93A8CFB89D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1490" y="3297112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6DA2637A-68B7-CE04-9993-915E562D3334}"/>
              </a:ext>
            </a:extLst>
          </p:cNvPr>
          <p:cNvGrpSpPr/>
          <p:nvPr/>
        </p:nvGrpSpPr>
        <p:grpSpPr>
          <a:xfrm>
            <a:off x="140539" y="4411114"/>
            <a:ext cx="8570690" cy="1447798"/>
            <a:chOff x="49799" y="4340036"/>
            <a:chExt cx="8570690" cy="1447798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A6712563-AFF9-014F-A973-32EF70DEF80B}"/>
                </a:ext>
              </a:extLst>
            </p:cNvPr>
            <p:cNvCxnSpPr>
              <a:cxnSpLocks/>
              <a:stCxn id="22" idx="3"/>
              <a:endCxn id="40" idx="1"/>
            </p:cNvCxnSpPr>
            <p:nvPr/>
          </p:nvCxnSpPr>
          <p:spPr>
            <a:xfrm>
              <a:off x="2926207" y="5189350"/>
              <a:ext cx="3935283" cy="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54545F5-7A58-83A3-3E3C-0AE7393AF846}"/>
                </a:ext>
              </a:extLst>
            </p:cNvPr>
            <p:cNvSpPr/>
            <p:nvPr/>
          </p:nvSpPr>
          <p:spPr>
            <a:xfrm>
              <a:off x="3413465" y="4590867"/>
              <a:ext cx="3000452" cy="11969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25EF8A1-482C-7713-FCD9-AB9AF4C40AA8}"/>
                </a:ext>
              </a:extLst>
            </p:cNvPr>
            <p:cNvSpPr txBox="1"/>
            <p:nvPr/>
          </p:nvSpPr>
          <p:spPr>
            <a:xfrm>
              <a:off x="49799" y="4340036"/>
              <a:ext cx="325121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Intervallskala bei Differenzstrukturen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hteck: abgerundete Ecken 21">
                  <a:extLst>
                    <a:ext uri="{FF2B5EF4-FFF2-40B4-BE49-F238E27FC236}">
                      <a16:creationId xmlns:a16="http://schemas.microsoft.com/office/drawing/2014/main" id="{3889CAAB-E5E4-AF12-BC5C-C1EF280E2EB2}"/>
                    </a:ext>
                  </a:extLst>
                </p:cNvPr>
                <p:cNvSpPr/>
                <p:nvPr/>
              </p:nvSpPr>
              <p:spPr>
                <a:xfrm>
                  <a:off x="318257" y="4873417"/>
                  <a:ext cx="2607950" cy="63186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de-DE" sz="1200" dirty="0">
                      <a:solidFill>
                        <a:schemeClr val="tx1"/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Algebraische Differenzstruktur</a:t>
                  </a:r>
                  <a14:m>
                    <m:oMath xmlns:m="http://schemas.openxmlformats.org/officeDocument/2006/math">
                      <m:r>
                        <a:rPr lang="de-DE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 </m:t>
                      </m:r>
                    </m:oMath>
                  </a14:m>
                  <a:endParaRPr lang="de-DE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(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,≻</m:t>
                        </m:r>
                        <m:r>
                          <a:rPr lang="de-D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de-D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Δ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2" name="Rechteck: abgerundete Ecken 21">
                  <a:extLst>
                    <a:ext uri="{FF2B5EF4-FFF2-40B4-BE49-F238E27FC236}">
                      <a16:creationId xmlns:a16="http://schemas.microsoft.com/office/drawing/2014/main" id="{3889CAAB-E5E4-AF12-BC5C-C1EF280E2E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257" y="4873417"/>
                  <a:ext cx="2607950" cy="631866"/>
                </a:xfrm>
                <a:prstGeom prst="roundRect">
                  <a:avLst/>
                </a:prstGeom>
                <a:blipFill>
                  <a:blip r:embed="rId9"/>
                  <a:stretch>
                    <a:fillRect b="-1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0BE6E564-0BE8-24BD-2D83-B42158E09633}"/>
                    </a:ext>
                  </a:extLst>
                </p:cNvPr>
                <p:cNvSpPr txBox="1"/>
                <p:nvPr/>
              </p:nvSpPr>
              <p:spPr>
                <a:xfrm>
                  <a:off x="3618360" y="4840371"/>
                  <a:ext cx="2672655" cy="9387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:</m:t>
                        </m:r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→</m:t>
                        </m:r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ℝ</m:t>
                        </m:r>
                        <m:r>
                          <a:rPr lang="de-DE" sz="1000" i="1" smtClean="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mit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𝑚</m:t>
                        </m:r>
                        <m:r>
                          <a:rPr lang="de-DE" sz="100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Δ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𝑛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⇔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⊝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ambria Math" panose="02040503050406030204" pitchFamily="18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de-DE" sz="1000" dirty="0"/>
                    <a:t> </a:t>
                  </a:r>
                  <a14:m>
                    <m:oMath xmlns:m="http://schemas.openxmlformats.org/officeDocument/2006/math"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↦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e-DE" sz="1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:=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1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de-DE" sz="1000" i="1" dirty="0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000" dirty="0">
                            <a:latin typeface="Cambria Math" panose="02040503050406030204" pitchFamily="18" charset="0"/>
                          </a:rPr>
                          <m:t>mit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&gt; 0</m:t>
                        </m:r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endParaRPr lang="de-DE" sz="1000" dirty="0"/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0BE6E564-0BE8-24BD-2D83-B42158E09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8360" y="4840371"/>
                  <a:ext cx="2672655" cy="93871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hteck: abgerundete Ecken 39">
                  <a:extLst>
                    <a:ext uri="{FF2B5EF4-FFF2-40B4-BE49-F238E27FC236}">
                      <a16:creationId xmlns:a16="http://schemas.microsoft.com/office/drawing/2014/main" id="{CEC31A2A-FDE4-F162-2D5A-E876F404838E}"/>
                    </a:ext>
                  </a:extLst>
                </p:cNvPr>
                <p:cNvSpPr/>
                <p:nvPr/>
              </p:nvSpPr>
              <p:spPr>
                <a:xfrm>
                  <a:off x="6861490" y="4713616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ℝ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,⊝</m:t>
                            </m:r>
                          </m:e>
                        </m:d>
                      </m:oMath>
                    </m:oMathPara>
                  </a14:m>
                  <a:endPara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40" name="Rechteck: abgerundete Ecken 39">
                  <a:extLst>
                    <a:ext uri="{FF2B5EF4-FFF2-40B4-BE49-F238E27FC236}">
                      <a16:creationId xmlns:a16="http://schemas.microsoft.com/office/drawing/2014/main" id="{CEC31A2A-FDE4-F162-2D5A-E876F4048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1490" y="4713616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FE4BB8A3-D758-C249-8D73-2614A2F554C0}"/>
              </a:ext>
            </a:extLst>
          </p:cNvPr>
          <p:cNvGrpSpPr/>
          <p:nvPr/>
        </p:nvGrpSpPr>
        <p:grpSpPr>
          <a:xfrm>
            <a:off x="173198" y="5868030"/>
            <a:ext cx="8538030" cy="1298978"/>
            <a:chOff x="82458" y="5791250"/>
            <a:chExt cx="8538030" cy="1298978"/>
          </a:xfrm>
        </p:grpSpPr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8C8ABD22-8AC2-BD88-689F-9E2D6EB4B39A}"/>
                </a:ext>
              </a:extLst>
            </p:cNvPr>
            <p:cNvCxnSpPr>
              <a:cxnSpLocks/>
              <a:stCxn id="21" idx="3"/>
              <a:endCxn id="6" idx="1"/>
            </p:cNvCxnSpPr>
            <p:nvPr/>
          </p:nvCxnSpPr>
          <p:spPr>
            <a:xfrm>
              <a:off x="2950466" y="6491745"/>
              <a:ext cx="3911023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AAC6FCD8-D787-F360-3D57-6409C62B2189}"/>
                </a:ext>
              </a:extLst>
            </p:cNvPr>
            <p:cNvSpPr/>
            <p:nvPr/>
          </p:nvSpPr>
          <p:spPr>
            <a:xfrm>
              <a:off x="3413465" y="5893261"/>
              <a:ext cx="3000452" cy="11969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27EA674-FE3A-E736-61C4-BA38FEE073ED}"/>
                </a:ext>
              </a:extLst>
            </p:cNvPr>
            <p:cNvSpPr txBox="1"/>
            <p:nvPr/>
          </p:nvSpPr>
          <p:spPr>
            <a:xfrm>
              <a:off x="82458" y="5791250"/>
              <a:ext cx="35381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Verhältnisskala bei extensiven Strukturen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hteck: abgerundete Ecken 20">
                  <a:extLst>
                    <a:ext uri="{FF2B5EF4-FFF2-40B4-BE49-F238E27FC236}">
                      <a16:creationId xmlns:a16="http://schemas.microsoft.com/office/drawing/2014/main" id="{1129F88B-F785-10E5-BDCD-81E6BB68CB21}"/>
                    </a:ext>
                  </a:extLst>
                </p:cNvPr>
                <p:cNvSpPr/>
                <p:nvPr/>
              </p:nvSpPr>
              <p:spPr>
                <a:xfrm>
                  <a:off x="293999" y="6162705"/>
                  <a:ext cx="2656467" cy="658079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de-DE" sz="1200" dirty="0">
                      <a:solidFill>
                        <a:schemeClr val="tx1"/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Extensive Struktur</a:t>
                  </a:r>
                  <a14:m>
                    <m:oMath xmlns:m="http://schemas.openxmlformats.org/officeDocument/2006/math">
                      <m:r>
                        <a:rPr lang="de-DE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 </m:t>
                      </m:r>
                    </m:oMath>
                  </a14:m>
                  <a:endParaRPr lang="de-DE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(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,≻,∘)</m:t>
                        </m:r>
                      </m:oMath>
                    </m:oMathPara>
                  </a14:m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:endParaRPr lang="de-DE" sz="12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1" name="Rechteck: abgerundete Ecken 20">
                  <a:extLst>
                    <a:ext uri="{FF2B5EF4-FFF2-40B4-BE49-F238E27FC236}">
                      <a16:creationId xmlns:a16="http://schemas.microsoft.com/office/drawing/2014/main" id="{1129F88B-F785-10E5-BDCD-81E6BB68CB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99" y="6162705"/>
                  <a:ext cx="2656467" cy="658079"/>
                </a:xfrm>
                <a:prstGeom prst="roundRect">
                  <a:avLst/>
                </a:prstGeom>
                <a:blipFill>
                  <a:blip r:embed="rId12"/>
                  <a:stretch>
                    <a:fillRect b="-93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8047EDD3-E8EC-2376-19A7-DA6268952986}"/>
                    </a:ext>
                  </a:extLst>
                </p:cNvPr>
                <p:cNvSpPr txBox="1"/>
                <p:nvPr/>
              </p:nvSpPr>
              <p:spPr>
                <a:xfrm>
                  <a:off x="3318276" y="6082825"/>
                  <a:ext cx="3272822" cy="9387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: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𝑀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→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ℝ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mit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 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𝑚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≻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𝑛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⇔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&gt;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MU Bright" panose="02000603000000000000" pitchFamily="2" charset="0"/>
                              </a:rPr>
                              <m:t>𝑛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 </m:t>
                        </m:r>
                      </m:oMath>
                    </m:oMathPara>
                  </a14:m>
                  <a:endParaRPr lang="de-DE" sz="1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und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 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  <m: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∘</m:t>
                            </m:r>
                            <m: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𝑛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=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𝑚</m:t>
                            </m:r>
                          </m:e>
                        </m:d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+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𝑓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(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𝑛</m:t>
                        </m:r>
                        <m:r>
                          <a:rPr lang="de-DE" sz="1000" i="1">
                            <a:latin typeface="Cambria Math" panose="02040503050406030204" pitchFamily="18" charset="0"/>
                            <a:ea typeface="CMU Bright" panose="02000603000000000000" pitchFamily="2" charset="0"/>
                            <a:cs typeface="CMU Bright" panose="02000603000000000000" pitchFamily="2" charset="0"/>
                          </a:rPr>
                          <m:t>)</m:t>
                        </m:r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→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↦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) :=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sz="1000" dirty="0">
                            <a:latin typeface="Cambria Math" panose="02040503050406030204" pitchFamily="18" charset="0"/>
                          </a:rPr>
                          <m:t>mit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de-DE" sz="1000" i="1" dirty="0">
                            <a:latin typeface="Cambria Math" panose="02040503050406030204" pitchFamily="18" charset="0"/>
                          </a:rPr>
                          <m:t> &gt; 0</m:t>
                        </m:r>
                      </m:oMath>
                    </m:oMathPara>
                  </a14:m>
                  <a:endParaRPr lang="de-DE" sz="1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endParaRPr lang="de-DE" sz="1000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8047EDD3-E8EC-2376-19A7-DA6268952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8276" y="6082825"/>
                  <a:ext cx="3272822" cy="93871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hteck: abgerundete Ecken 5">
                  <a:extLst>
                    <a:ext uri="{FF2B5EF4-FFF2-40B4-BE49-F238E27FC236}">
                      <a16:creationId xmlns:a16="http://schemas.microsoft.com/office/drawing/2014/main" id="{7EAEFEF6-9F27-006C-B249-F3C7BA7A5A35}"/>
                    </a:ext>
                  </a:extLst>
                </p:cNvPr>
                <p:cNvSpPr/>
                <p:nvPr/>
              </p:nvSpPr>
              <p:spPr>
                <a:xfrm>
                  <a:off x="6861489" y="6016010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de-D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ℝ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MU Bright" panose="02000603000000000000" pitchFamily="2" charset="0"/>
                                <a:cs typeface="CMU Bright" panose="02000603000000000000" pitchFamily="2" charset="0"/>
                              </a:rPr>
                              <m:t>,&gt;,+</m:t>
                            </m:r>
                          </m:e>
                        </m:d>
                      </m:oMath>
                    </m:oMathPara>
                  </a14:m>
                  <a:endPara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6" name="Rechteck: abgerundete Ecken 5">
                  <a:extLst>
                    <a:ext uri="{FF2B5EF4-FFF2-40B4-BE49-F238E27FC236}">
                      <a16:creationId xmlns:a16="http://schemas.microsoft.com/office/drawing/2014/main" id="{7EAEFEF6-9F27-006C-B249-F3C7BA7A5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1489" y="6016010"/>
                  <a:ext cx="1758999" cy="951469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0AECDA2-A55B-F013-658C-FC4CFBA61482}"/>
              </a:ext>
            </a:extLst>
          </p:cNvPr>
          <p:cNvCxnSpPr/>
          <p:nvPr/>
        </p:nvCxnSpPr>
        <p:spPr>
          <a:xfrm>
            <a:off x="0" y="1323454"/>
            <a:ext cx="9144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089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236</Words>
  <Application>Microsoft Office PowerPoint</Application>
  <PresentationFormat>Benutzerdefiniert</PresentationFormat>
  <Paragraphs>37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CMU Bright</vt:lpstr>
      <vt:lpstr>LatinModernMath-Regular-Identity-H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4</cp:revision>
  <dcterms:created xsi:type="dcterms:W3CDTF">2024-11-28T06:20:35Z</dcterms:created>
  <dcterms:modified xsi:type="dcterms:W3CDTF">2026-03-13T07:36:12Z</dcterms:modified>
</cp:coreProperties>
</file>