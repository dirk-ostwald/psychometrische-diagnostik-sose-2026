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9144000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22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7197"/>
            <a:ext cx="7772400" cy="26318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580"/>
            <a:ext cx="6858000" cy="18251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97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98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884671"/>
            <a:ext cx="7886700" cy="31446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059035"/>
            <a:ext cx="7886700" cy="16536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787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012414"/>
            <a:ext cx="3886200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012414"/>
            <a:ext cx="3886200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10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2484"/>
            <a:ext cx="7886700" cy="1461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171"/>
            <a:ext cx="3868340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761381"/>
            <a:ext cx="3868340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853171"/>
            <a:ext cx="3887391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761381"/>
            <a:ext cx="3887391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47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6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765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3978"/>
            <a:ext cx="2949178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8455"/>
            <a:ext cx="4629150" cy="53722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67902"/>
            <a:ext cx="2949178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79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03978"/>
            <a:ext cx="2949178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88455"/>
            <a:ext cx="4629150" cy="537226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267902"/>
            <a:ext cx="2949178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43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69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02483"/>
            <a:ext cx="1971675" cy="64064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02483"/>
            <a:ext cx="5800725" cy="64064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78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02484"/>
            <a:ext cx="788670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12414"/>
            <a:ext cx="788670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7006700"/>
            <a:ext cx="20574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A852E-4525-4C93-B2C1-80B827C4DA35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7006700"/>
            <a:ext cx="30861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7006700"/>
            <a:ext cx="20574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566A7-F034-4B8B-A6AF-13D35935E5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18EA-3457-D4E2-ED69-A1E675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607D304-6254-9B20-F841-26AE57335B43}"/>
              </a:ext>
            </a:extLst>
          </p:cNvPr>
          <p:cNvSpPr txBox="1"/>
          <p:nvPr/>
        </p:nvSpPr>
        <p:spPr>
          <a:xfrm>
            <a:off x="173198" y="1479328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Nominalskala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D81915F-8A0A-4F1D-05F9-E421D5A59A9B}"/>
              </a:ext>
            </a:extLst>
          </p:cNvPr>
          <p:cNvSpPr txBox="1"/>
          <p:nvPr/>
        </p:nvSpPr>
        <p:spPr>
          <a:xfrm>
            <a:off x="173198" y="2919329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Ordinalskala 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0B48BCF-0773-B3F9-300F-869724EA9A14}"/>
              </a:ext>
            </a:extLst>
          </p:cNvPr>
          <p:cNvSpPr txBox="1"/>
          <p:nvPr/>
        </p:nvSpPr>
        <p:spPr>
          <a:xfrm>
            <a:off x="140539" y="4411114"/>
            <a:ext cx="12843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Intervallskala 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2BEE3DB-EAAE-ED85-1F46-0DC5413693B8}"/>
              </a:ext>
            </a:extLst>
          </p:cNvPr>
          <p:cNvSpPr txBox="1"/>
          <p:nvPr/>
        </p:nvSpPr>
        <p:spPr>
          <a:xfrm>
            <a:off x="173198" y="5868030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Verhältnisskala  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9994FB8-6318-B743-47AA-49876673302E}"/>
              </a:ext>
            </a:extLst>
          </p:cNvPr>
          <p:cNvCxnSpPr/>
          <p:nvPr/>
        </p:nvCxnSpPr>
        <p:spPr>
          <a:xfrm>
            <a:off x="0" y="1323454"/>
            <a:ext cx="9144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F012D8A-9291-B366-FF54-08A5F3C92D42}"/>
              </a:ext>
            </a:extLst>
          </p:cNvPr>
          <p:cNvSpPr txBox="1"/>
          <p:nvPr/>
        </p:nvSpPr>
        <p:spPr>
          <a:xfrm>
            <a:off x="234319" y="1802493"/>
            <a:ext cx="539923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Übersetzung von Kategorien in Zahlen, 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Die Zahlen haben keine eigentliche Bedeutung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Weder Größer-Kleiner Verhältnisse noch Grundrechenarten sind sinnvoll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Deskriptivstatistiken (Mittelwert, Standardabweichung) sind nicht sinnvoll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6636B99-AF13-2A3B-4F9C-8DC8DE59D956}"/>
              </a:ext>
            </a:extLst>
          </p:cNvPr>
          <p:cNvSpPr txBox="1"/>
          <p:nvPr/>
        </p:nvSpPr>
        <p:spPr>
          <a:xfrm>
            <a:off x="234319" y="3242494"/>
            <a:ext cx="5620449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Übersetzung von Größer-Kleiner Verhältnissen in Zahlen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Die Zahlen haben nur hinsichtlich ihrer Größer-Kleiner Verhältnisse Bedeutung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Addition, Subtraktion, Multiplikation, Division sind nicht sinnvoll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Deskriptivstatistiken (Mittelwert, Standardabweichung) sind nicht sinnvoll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CADDFC-6DF7-D77B-E061-3AE015EE7E59}"/>
              </a:ext>
            </a:extLst>
          </p:cNvPr>
          <p:cNvSpPr txBox="1"/>
          <p:nvPr/>
        </p:nvSpPr>
        <p:spPr>
          <a:xfrm>
            <a:off x="196851" y="4723759"/>
            <a:ext cx="5203669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Übersetzung von Abständen in Zahlen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Die Zahlen haben nur hinsichtlich ihrer Differenzen Bedeutung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Addition und Subtraktion sind sinnvoll, Multiplikation und Division nicht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Deskriptivstatistiken (Mittelwert, Standardabweichung) sind sinnvoll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50DD139-7F69-A244-6E6C-CE3521D2CF45}"/>
              </a:ext>
            </a:extLst>
          </p:cNvPr>
          <p:cNvSpPr txBox="1"/>
          <p:nvPr/>
        </p:nvSpPr>
        <p:spPr>
          <a:xfrm>
            <a:off x="196851" y="6191195"/>
            <a:ext cx="495039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Übersetzung von physischen Kombinationen in Zahlen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Die Zahlen haben hinsichtlich der Grundrechenarten Bedeutung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Addition, Subtraktion, Multiplikation, Division sind sinnvoll</a:t>
            </a:r>
          </a:p>
          <a:p>
            <a:pPr marL="285752" indent="-28575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Deskriptivstatistiken (Mittelwert, Standardabweichung) sind sinnvoll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D5A02F40-3038-A035-6301-FCCC3D90818C}"/>
                  </a:ext>
                </a:extLst>
              </p:cNvPr>
              <p:cNvSpPr txBox="1"/>
              <p:nvPr/>
            </p:nvSpPr>
            <p:spPr>
              <a:xfrm>
                <a:off x="6909751" y="1854002"/>
                <a:ext cx="1888659" cy="8329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Leiden Sie an Depressionen?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Ja                       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(0)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Nein                    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(1)</a:t>
                </a:r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D5A02F40-3038-A035-6301-FCCC3D908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51" y="1854002"/>
                <a:ext cx="1888659" cy="832920"/>
              </a:xfrm>
              <a:prstGeom prst="rect">
                <a:avLst/>
              </a:prstGeom>
              <a:blipFill>
                <a:blip r:embed="rId2"/>
                <a:stretch>
                  <a:fillRect b="-3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1213AEF-8388-09BC-636B-B8BE70024A97}"/>
                  </a:ext>
                </a:extLst>
              </p:cNvPr>
              <p:cNvSpPr txBox="1"/>
              <p:nvPr/>
            </p:nvSpPr>
            <p:spPr>
              <a:xfrm>
                <a:off x="6739833" y="3221172"/>
                <a:ext cx="2058577" cy="108683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Wie geht es Ihnen momentan ?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Gut                       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(0)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Nicht so gut            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(1)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Schlecht 	        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(2)</a:t>
                </a: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1213AEF-8388-09BC-636B-B8BE70024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833" y="3221172"/>
                <a:ext cx="2058577" cy="1086836"/>
              </a:xfrm>
              <a:prstGeom prst="rect">
                <a:avLst/>
              </a:prstGeom>
              <a:blipFill>
                <a:blip r:embed="rId3"/>
                <a:stretch>
                  <a:fillRect b="-2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BAF6AAFF-4BC8-EC10-75C3-E9751C23D5EA}"/>
                  </a:ext>
                </a:extLst>
              </p:cNvPr>
              <p:cNvSpPr txBox="1"/>
              <p:nvPr/>
            </p:nvSpPr>
            <p:spPr>
              <a:xfrm>
                <a:off x="6076190" y="6429127"/>
                <a:ext cx="2722220" cy="5790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Wie viele depressive Episoden hatten Sie 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(0) </a:t>
                </a:r>
                <a14:m>
                  <m:oMath xmlns:m="http://schemas.openxmlformats.org/officeDocument/2006/math">
                    <m:r>
                      <a:rPr lang="de-DE" sz="1100" i="1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(1) </a:t>
                </a:r>
                <a14:m>
                  <m:oMath xmlns:m="http://schemas.openxmlformats.org/officeDocument/2006/math">
                    <m:r>
                      <a:rPr lang="de-DE" sz="1100" i="1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(2) </a:t>
                </a:r>
                <a14:m>
                  <m:oMath xmlns:m="http://schemas.openxmlformats.org/officeDocument/2006/math">
                    <m:r>
                      <a:rPr lang="de-DE" sz="1100" i="1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(4) </a:t>
                </a:r>
                <a14:m>
                  <m:oMath xmlns:m="http://schemas.openxmlformats.org/officeDocument/2006/math">
                    <m:r>
                      <a:rPr lang="de-DE" sz="1100" i="1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(5) </a:t>
                </a:r>
                <a14:m>
                  <m:oMath xmlns:m="http://schemas.openxmlformats.org/officeDocument/2006/math">
                    <m:r>
                      <a:rPr lang="de-DE" sz="1100" i="1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(6)</a:t>
                </a:r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BAF6AAFF-4BC8-EC10-75C3-E9751C23D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190" y="6429127"/>
                <a:ext cx="2722220" cy="579005"/>
              </a:xfrm>
              <a:prstGeom prst="rect">
                <a:avLst/>
              </a:prstGeom>
              <a:blipFill>
                <a:blip r:embed="rId4"/>
                <a:stretch>
                  <a:fillRect b="-61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62F8CE1C-C3A2-B33F-75A5-A5602005A079}"/>
                  </a:ext>
                </a:extLst>
              </p:cNvPr>
              <p:cNvSpPr txBox="1"/>
              <p:nvPr/>
            </p:nvSpPr>
            <p:spPr>
              <a:xfrm>
                <a:off x="6252520" y="4573270"/>
                <a:ext cx="2545890" cy="13407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Reizbarkeit (BDI-II)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Ich bin nicht reizbarer als sonst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(0)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Ich bin reizbarer als sonst        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(1)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Ich bin viel reizbarer als sonst 	 </a:t>
                </a:r>
                <a14:m>
                  <m:oMath xmlns:m="http://schemas.openxmlformats.org/officeDocument/2006/math">
                    <m:r>
                      <a:rPr lang="de-DE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(2)</a:t>
                </a:r>
              </a:p>
              <a:p>
                <a:pPr>
                  <a:lnSpc>
                    <a:spcPct val="150000"/>
                  </a:lnSpc>
                </a:pPr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Ich fühle mich dauern gereizt    </a:t>
                </a:r>
                <a14:m>
                  <m:oMath xmlns:m="http://schemas.openxmlformats.org/officeDocument/2006/math">
                    <m:r>
                      <a:rPr lang="de-DE" sz="1100" b="0" i="1" smtClean="0">
                        <a:latin typeface="Cambria Math" panose="02040503050406030204" pitchFamily="18" charset="0"/>
                      </a:rPr>
                      <m:t>□</m:t>
                    </m:r>
                  </m:oMath>
                </a14:m>
                <a:r>
                  <a:rPr lang="de-DE" sz="11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(3)</a:t>
                </a:r>
              </a:p>
            </p:txBody>
          </p:sp>
        </mc:Choice>
        <mc:Fallback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62F8CE1C-C3A2-B33F-75A5-A5602005A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520" y="4573270"/>
                <a:ext cx="2545890" cy="1340752"/>
              </a:xfrm>
              <a:prstGeom prst="rect">
                <a:avLst/>
              </a:prstGeom>
              <a:blipFill>
                <a:blip r:embed="rId5"/>
                <a:stretch>
                  <a:fillRect b="-22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79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242</Words>
  <Application>Microsoft Office PowerPoint</Application>
  <PresentationFormat>Benutzerdefiniert</PresentationFormat>
  <Paragraphs>34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6</cp:revision>
  <dcterms:created xsi:type="dcterms:W3CDTF">2024-11-28T06:20:35Z</dcterms:created>
  <dcterms:modified xsi:type="dcterms:W3CDTF">2026-03-13T07:48:51Z</dcterms:modified>
</cp:coreProperties>
</file>